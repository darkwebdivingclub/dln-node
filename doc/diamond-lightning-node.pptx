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463040" cy="50800"/>
          </a:xfrm>
          <a:prstGeom prst="rect">
            <a:avLst/>
          </a:prstGeom>
          <a:solidFill>
            <a:srgbClr val="7F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 i="0">
                <a:solidFill>
                  <a:srgbClr val="E8EDF2"/>
                </a:solidFill>
                <a:latin typeface="Arial"/>
              </a:rPr>
              <a:t>Diamond Lightning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600" b="0" i="0">
                <a:solidFill>
                  <a:srgbClr val="7FD8E8"/>
                </a:solidFill>
                <a:latin typeface="Arial"/>
              </a:rPr>
              <a:t>A Lightning node that is not trusted —</a:t>
            </a:r>
          </a:p>
          <a:p>
            <a:pPr>
              <a:spcAft>
                <a:spcPts val="0"/>
              </a:spcAft>
            </a:pPr>
            <a:r>
              <a:rPr sz="2600" b="0" i="0">
                <a:solidFill>
                  <a:srgbClr val="7FD8E8"/>
                </a:solidFill>
                <a:latin typeface="Arial"/>
              </a:rPr>
              <a:t>not even by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dwdc.club  ·  GPL-3.0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800" b="1" i="0">
                <a:solidFill>
                  <a:srgbClr val="E8EDF2"/>
                </a:solidFill>
                <a:latin typeface="Arial"/>
              </a:rPr>
              <a:t>A Lightning node is a hot wallet
with a web server attached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REST, gRPC, a CLI, macaroons — inbound surface, always listening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The node holds the very keys it signs with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Whoever controls the node controls the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Every common mitigation is a patch on that shape, not a change to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400" b="1" i="0">
                <a:solidFill>
                  <a:srgbClr val="E8EDF2"/>
                </a:solidFill>
                <a:latin typeface="Arial"/>
              </a:rPr>
              <a:t>A summer of operators afraid of their own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00" b="1" i="0">
                <a:solidFill>
                  <a:srgbClr val="7FD8E8"/>
                </a:solidFill>
                <a:latin typeface="Arial"/>
              </a:rPr>
              <a:t>BTCPay Server  ·  funds actually taken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8A97A3"/>
                </a:solidFill>
                <a:latin typeface="Arial"/>
              </a:rPr>
              <a:t>An unauthenticated request could read LND's .macaroon files. Actively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8A97A3"/>
                </a:solidFill>
                <a:latin typeface="Arial"/>
              </a:rPr>
              <a:t>exploited; merchant channels drained. Patching stopped new access — it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8A97A3"/>
                </a:solidFill>
                <a:latin typeface="Arial"/>
              </a:rPr>
              <a:t>did not invalidate the credentials already stolen.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8A97A3"/>
                </a:solidFill>
                <a:latin typeface="Arial"/>
              </a:rPr>
              <a:t/>
            </a:r>
          </a:p>
          <a:p>
            <a:pPr>
              <a:spcAft>
                <a:spcPts val="500"/>
              </a:spcAft>
            </a:pPr>
            <a:r>
              <a:rPr sz="1900" b="1" i="0">
                <a:solidFill>
                  <a:srgbClr val="7FD8E8"/>
                </a:solidFill>
                <a:latin typeface="Arial"/>
              </a:rPr>
              <a:t>Core Lightning  ·  told to go offline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8A97A3"/>
                </a:solidFill>
                <a:latin typeface="Arial"/>
              </a:rPr>
              <a:t>Multiple critical flaws, source withheld 14 days so they could not be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8A97A3"/>
                </a:solidFill>
                <a:latin typeface="Arial"/>
              </a:rPr>
              <a:t>reverse-engineered. Upgrade, or restart with --offline.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8A97A3"/>
                </a:solidFill>
                <a:latin typeface="Arial"/>
              </a:rPr>
              <a:t/>
            </a:r>
          </a:p>
          <a:p>
            <a:pPr>
              <a:spcAft>
                <a:spcPts val="500"/>
              </a:spcAft>
            </a:pPr>
            <a:r>
              <a:rPr sz="1900" b="1" i="0">
                <a:solidFill>
                  <a:srgbClr val="7FD8E8"/>
                </a:solidFill>
                <a:latin typeface="Arial"/>
              </a:rPr>
              <a:t>LND  ·  cooperative close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8A97A3"/>
                </a:solidFill>
                <a:latin typeface="Arial"/>
              </a:rPr>
              <a:t>A channel-close flaw putting an entire channel balance at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Two of these are the shape, not the code: a credential that can be stolen, and an interface that can be reached.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THE ARCHITECTURE</a:t>
            </a:r>
          </a:p>
        </p:txBody>
      </p:sp>
      <p:pic>
        <p:nvPicPr>
          <p:cNvPr id="4" name="Picture 3" descr="desig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29" y="1024128"/>
            <a:ext cx="699203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Three roles, three protocols, and a signer the node cannot talk past.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SEPARATION OF POWERS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8EDF2"/>
                </a:solidFill>
                <a:latin typeface="Arial"/>
              </a:rPr>
              <a:t>Three roles, and none of them is trusted twice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7FD8E8"/>
                </a:solidFill>
                <a:latin typeface="Arial"/>
              </a:rPr>
              <a:t>Owner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>Defines the signing policy. Touches nothing day to day.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FD8E8"/>
                </a:solidFill>
                <a:latin typeface="Arial"/>
              </a:rPr>
              <a:t>User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>Spends through the wallet, within the Owner's permissions and limits.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FD8E8"/>
                </a:solidFill>
                <a:latin typeface="Arial"/>
              </a:rPr>
              <a:t>Controller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>Operates the node — channels, peers, fees — under the same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A role is a key, not an account. Capabilities are granted per key and per method.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ONE TRANSPORT, THREE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8EDF2"/>
                </a:solidFill>
                <a:latin typeface="Arial"/>
              </a:rPr>
              <a:t>Nostr is the only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7FD8E8"/>
                </a:solidFill>
                <a:latin typeface="Arial"/>
              </a:rPr>
              <a:t>NWC   ·   the wallet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>Invoices, payments, offers, on-chain. Extends NIP-47.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FD8E8"/>
                </a:solidFill>
                <a:latin typeface="Arial"/>
              </a:rPr>
              <a:t>NCC   ·   the node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>Channels, peers, fees, routing, network queries.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7FD8E8"/>
                </a:solidFill>
                <a:latin typeface="Arial"/>
              </a:rPr>
              <a:t>NSC   ·   the signer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>Signing requests, and the policy that governs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No CLI. No local socket. Nothing listens for control — the node reaches out to a relay.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WHY THE SHAPE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800" b="1" i="0">
                <a:solidFill>
                  <a:srgbClr val="E8EDF2"/>
                </a:solidFill>
                <a:latin typeface="Arial"/>
              </a:rPr>
              <a:t>Policy lives in the signer,
not in the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The keys are not the node's. Every signature is a request the signer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validates against the Owner's policy — and can refuse.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7FD8E8"/>
                </a:solidFill>
                <a:latin typeface="Arial"/>
              </a:rPr>
              <a:t>A user or controller cannot make the signer approve an operation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7FD8E8"/>
                </a:solidFill>
                <a:latin typeface="Arial"/>
              </a:rPr>
              <a:t>outside that policy merely by controlling dln-node.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The signer can run inside an attested secure enclave.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WHAT IT UNLOCKS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8EDF2"/>
                </a:solidFill>
                <a:latin typeface="Arial"/>
              </a:rPr>
              <a:t>diamond-x — swapping BTC against BTK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Two chains, two channels, one payment hash.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Neither side can take their leg without enabling the other.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Hold invoices are the primitive that makes it atomic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No custody: the exchange relays two parallel legs, holding 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400" b="1" i="0">
                <a:solidFill>
                  <a:srgbClr val="7FD8E8"/>
                </a:solidFill>
                <a:latin typeface="Arial"/>
              </a:rPr>
              <a:t>3.7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Measured end to end, on regtest — not projected.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PROVEN WHERE IT IS HARDEST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8EDF2"/>
                </a:solidFill>
                <a:latin typeface="Arial"/>
              </a:rPr>
              <a:t>Across a consensus fork,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>Bitcoin Knots changes the block header: 80 bytes to 164, and a new proof of work.</a:t>
            </a:r>
          </a:p>
          <a:p>
            <a:pPr>
              <a:spcAft>
                <a:spcPts val="11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/>
            </a:r>
          </a:p>
          <a:p>
            <a:pPr>
              <a:spcAft>
                <a:spcPts val="11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v2 header support through the whole Rust stack</a:t>
            </a:r>
          </a:p>
          <a:p>
            <a:pPr>
              <a:spcAft>
                <a:spcPts val="11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A node follows the chain across activation without losing a channel</a:t>
            </a:r>
          </a:p>
          <a:p>
            <a:pPr>
              <a:spcAft>
                <a:spcPts val="11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A swap with one leg on BTC and one on a BLAKE2b chain</a:t>
            </a:r>
          </a:p>
          <a:p>
            <a:pPr>
              <a:spcAft>
                <a:spcPts val="11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BKIP-0001 — the specification that did not exist, checked against Knots' own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And the negative control: without the support, the node stops dead at the fork.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7FD8E8"/>
                </a:solidFill>
                <a:latin typeface="Arial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800" b="1" i="0">
                <a:solidFill>
                  <a:srgbClr val="E8EDF2"/>
                </a:solidFill>
                <a:latin typeface="Arial"/>
              </a:rPr>
              <a:t>Fast is demonstrated.
Safe is not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Proven — the happy path, end to end, on both chains, across the fork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—   Not proven — force closes, HTLC timeouts, on-chain claims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8A97A3"/>
                </a:solidFill>
                <a:latin typeface="Arial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Every scenario so far ends with both parties cooperating. The safety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DF2"/>
                </a:solidFill>
                <a:latin typeface="Arial"/>
              </a:rPr>
              <a:t>argument rests entirely on what happens when one of them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 i="1">
                <a:solidFill>
                  <a:srgbClr val="8A97A3"/>
                </a:solidFill>
                <a:latin typeface="Arial"/>
              </a:rPr>
              <a:t>That is the next mission, and it is deliberately not claimed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