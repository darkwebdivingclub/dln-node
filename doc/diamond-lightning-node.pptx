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286000"/>
            <a:ext cx="1463040" cy="50800"/>
          </a:xfrm>
          <a:prstGeom prst="rect">
            <a:avLst/>
          </a:prstGeom>
          <a:solidFill>
            <a:srgbClr val="7F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65176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5400" b="1" i="0">
                <a:solidFill>
                  <a:srgbClr val="E8EDF2"/>
                </a:solidFill>
                <a:latin typeface="Arial"/>
              </a:rPr>
              <a:t>Diamond Lightning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600" b="0" i="0">
                <a:solidFill>
                  <a:srgbClr val="7FD8E8"/>
                </a:solidFill>
                <a:latin typeface="Arial"/>
              </a:rPr>
              <a:t>A Lightning node that is not trusted —</a:t>
            </a:r>
          </a:p>
          <a:p>
            <a:pPr>
              <a:spcAft>
                <a:spcPts val="0"/>
              </a:spcAft>
            </a:pPr>
            <a:r>
              <a:rPr sz="2600" b="0" i="0">
                <a:solidFill>
                  <a:srgbClr val="7FD8E8"/>
                </a:solidFill>
                <a:latin typeface="Arial"/>
              </a:rPr>
              <a:t>not even by itself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dwdc.club  ·  GPL-3.0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Traditionally, a node is built like an egg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A hot wallet with a web server attached, behind a single perimeter.</a:t>
            </a:r>
          </a:p>
          <a:p>
            <a:pPr>
              <a:spcAft>
                <a:spcPts val="14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shell  —  TLS, macaroons, a firewall, a VPN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centre  —  the API, the keys and the policy, together and trusted</a:t>
            </a:r>
          </a:p>
          <a:p>
            <a:pPr>
              <a:spcAft>
                <a:spcPts val="14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Crack the shell once, and there is nothing else to defeat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Every common mitigation hardens the shell. None of them changes what is inside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AUGUST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This summer, operators were afraid
of an omelette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87168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800" b="1" i="0">
                <a:solidFill>
                  <a:srgbClr val="7FD8E8"/>
                </a:solidFill>
                <a:latin typeface="Arial"/>
              </a:rPr>
              <a:t>BTCPay Server  ·  funds actually taken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>An unauthenticated request could read LND's .macaroon files. Actively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>exploited; merchant channels drained. Patching stopped new access — it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>did not invalidate the credentials already stolen.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1" i="0">
                <a:solidFill>
                  <a:srgbClr val="7FD8E8"/>
                </a:solidFill>
                <a:latin typeface="Arial"/>
              </a:rPr>
              <a:t>Core Lightning  ·  told to go offline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>Multiple critical flaws, source withheld 14 days so they could not be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>reverse-engineered. Upgrade, or restart with --offline.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800" b="1" i="0">
                <a:solidFill>
                  <a:srgbClr val="7FD8E8"/>
                </a:solidFill>
                <a:latin typeface="Arial"/>
              </a:rPr>
              <a:t>LND  ·  cooperative close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8A97A3"/>
                </a:solidFill>
                <a:latin typeface="Arial"/>
              </a:rPr>
              <a:t>A channel-close flaw putting an entire channel balance at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Two of the three are the shell, not the code: a credential that could be stolen, and an interface that could be reached.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THE ARCHITECTURE</a:t>
            </a:r>
          </a:p>
        </p:txBody>
      </p:sp>
      <p:pic>
        <p:nvPicPr>
          <p:cNvPr id="4" name="Picture 3" descr="design-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9829" y="1024128"/>
            <a:ext cx="6992037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Three roles, three protocols, and a signer the node cannot talk past.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SEPARATION OF POWERS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Three roles, and none of them is trusted twice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Owner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Defines the signing policy. Touches nothing day to day.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User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Spends through the wallet, within the Owner's permissions and limits.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Controller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Operates the node — channels, peers, fees — under the same policy.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A role is a key, not an account. Capabilities are granted per key and per method.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ONE TRANSPORT, THREE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Nostr is the only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NWC   ·   the wallet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Invoices, payments, offers, on-chain. Extends NIP-47.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NCC   ·   the node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Channels, peers, fees, routing, network queries.</a:t>
            </a:r>
          </a:p>
          <a:p>
            <a:pPr>
              <a:spcAft>
                <a:spcPts val="6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NSC   ·   the signer</a:t>
            </a:r>
          </a:p>
          <a:p>
            <a:pPr>
              <a:spcAft>
                <a:spcPts val="6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Signing requests, and the policy that governs them.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No CLI. No local socket. Nothing listens for control — the node reaches out to a relay.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WHY THE SHAPE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Policy lives in the signer,
not in the node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83464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The keys are not the node's. Every signature is a request the signer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validates against the Owner's policy — and can refuse.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A user or controller cannot make the signer approve an operation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7FD8E8"/>
                </a:solidFill>
                <a:latin typeface="Arial"/>
              </a:rPr>
              <a:t>outside that policy merely by controlling dln-node.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The signer can run inside an attested secure enclave.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There is no soft centre, because the part worth stealing was never inside the shell.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WHAT IT UNLOCKS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diamond-x — swapping BTC against BTK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8600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Two chains, two channels, one payment hash.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Neither side can take their leg without enabling the other.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Hold invoices are the primitive that makes it atomic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No custody: the exchange relays two parallel legs, holding nothing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70916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400" b="1" i="0">
                <a:solidFill>
                  <a:srgbClr val="7FD8E8"/>
                </a:solidFill>
                <a:latin typeface="Arial"/>
              </a:rPr>
              <a:t>3.7 seconds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Measured end to end, on regtest — not projected.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PROVEN WHERE IT IS HARDEST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4000" b="1" i="0">
                <a:solidFill>
                  <a:srgbClr val="E8EDF2"/>
                </a:solidFill>
                <a:latin typeface="Arial"/>
              </a:rPr>
              <a:t>Across a consensus fork, live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24028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1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>Bitcoin Knots changes the block header: 80 bytes to 164, and a new proof of work.</a:t>
            </a:r>
          </a:p>
          <a:p>
            <a:pPr>
              <a:spcAft>
                <a:spcPts val="11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v2 header support through the whole Rust stack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node follows the chain across activation without losing a channel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A swap with one leg on BTC and one on a BLAKE2b chain</a:t>
            </a:r>
          </a:p>
          <a:p>
            <a:pPr>
              <a:spcAft>
                <a:spcPts val="11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BKIP-0001 — the specification that did not exist, checked against Knots' own vectors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And the negative control: without the support, the node stops dead at the fork.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00" b="1" i="0">
                <a:solidFill>
                  <a:srgbClr val="7FD8E8"/>
                </a:solidFill>
                <a:latin typeface="Arial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3800" b="1" i="0">
                <a:solidFill>
                  <a:srgbClr val="E8EDF2"/>
                </a:solidFill>
                <a:latin typeface="Arial"/>
              </a:rPr>
              <a:t>Fast is demonstrated.
Safe is not yet.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017520"/>
            <a:ext cx="1051560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Proven — the happy path, end to end, on both chains, across the fork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—   Not proven — force closes, HTLC timeouts, on-chain claims</a:t>
            </a:r>
          </a:p>
          <a:p>
            <a:pPr>
              <a:spcAft>
                <a:spcPts val="1200"/>
              </a:spcAft>
            </a:pPr>
            <a:r>
              <a:rPr sz="1800" b="0" i="0">
                <a:solidFill>
                  <a:srgbClr val="8A97A3"/>
                </a:solidFill>
                <a:latin typeface="Arial"/>
              </a:rPr>
              <a:t/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Every scenario so far ends with both parties cooperating. The safety</a:t>
            </a:r>
          </a:p>
          <a:p>
            <a:pPr>
              <a:spcAft>
                <a:spcPts val="1200"/>
              </a:spcAft>
            </a:pPr>
            <a:r>
              <a:rPr sz="2000" b="0" i="0">
                <a:solidFill>
                  <a:srgbClr val="E8EDF2"/>
                </a:solidFill>
                <a:latin typeface="Arial"/>
              </a:rPr>
              <a:t>argument rests entirely on what happens when one of them does not.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893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400" b="0" i="1">
                <a:solidFill>
                  <a:srgbClr val="8A97A3"/>
                </a:solidFill>
                <a:latin typeface="Arial"/>
              </a:rPr>
              <a:t>That is the next mission, and it is deliberately not claimed yet.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