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94D3174-DD98-42A2-A57A-EEDA18A255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084D05C-147C-4971-A08E-7F4FEDD275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1AD2265-3F3E-4209-98DD-FD0C69B6BD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C05AC0D-8A94-43FC-B318-72211D849D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724E56C-5F60-46A7-87A2-334A36496B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8D6A921-BD78-4B26-8B51-128760BEE1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F756CEC-5CE8-4370-9E50-A8F97C7059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BADB4C5-1C7C-4652-9C2F-7FF33AB23C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B9E96D8-A509-4C64-A308-6A85721740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28E8F37-0507-41B9-AB20-8576CE4CB1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15FEA03-3323-4EF5-ACF0-F3312587B4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822960" y="2286000"/>
            <a:ext cx="1461960" cy="49680"/>
          </a:xfrm>
          <a:prstGeom prst="rect">
            <a:avLst/>
          </a:prstGeom>
          <a:solidFill>
            <a:srgbClr val="7FD8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5760" rIns="90000" bIns="5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822960" y="2651760"/>
            <a:ext cx="105145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42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Diamond Lightning Node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822960" y="3794760"/>
            <a:ext cx="10514520" cy="81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lang="en-US" sz="2600" b="0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A Lightning node that trusts nobody —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not even itself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822960" y="598932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dwdc.club  ·  GPL-3.0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"/>
          <p:cNvPicPr/>
          <p:nvPr/>
        </p:nvPicPr>
        <p:blipFill>
          <a:blip r:embed="rId1"/>
          <a:stretch/>
        </p:blipFill>
        <p:spPr>
          <a:xfrm>
            <a:off x="7620480" y="0"/>
            <a:ext cx="4570560" cy="6856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67000"/>
            <a:ext cx="1005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THE PROBLEM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822960" y="1051560"/>
            <a:ext cx="1051452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Traditionally, a node is built like an egg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822960" y="2651760"/>
            <a:ext cx="10514520" cy="38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A hot wallet with a web server attached, behind a single perimeter.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—   The shell  —  TLS, macaroons, a firewall, a VPN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—   The centre  —  the API, the keys and the policy, together and trusted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—   Crack the shell once, and there is nothing else to defeat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822960" y="598932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Every common mitigation hardens the shell. None of them changes what is inside it.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/>
          <p:cNvPicPr/>
          <p:nvPr/>
        </p:nvPicPr>
        <p:blipFill>
          <a:blip r:embed="rId1"/>
          <a:stretch/>
        </p:blipFill>
        <p:spPr>
          <a:xfrm>
            <a:off x="9601200" y="3875040"/>
            <a:ext cx="1530720" cy="229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822960" y="567000"/>
            <a:ext cx="1005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AUGUST 2026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822960" y="1051560"/>
            <a:ext cx="10514520" cy="11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38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This summer, operators were afraid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of being served an omelet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822960" y="2487240"/>
            <a:ext cx="10514520" cy="38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BTCPay Server  ·  funds actually taken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An unauthenticated request could read LND's .macaroon files. Actively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exploited; merchant channels drained. Patching stopped new access — it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did not invalidate the credentials already stolen.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Core Lightning  ·  told to go offline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Multiple critical flaws, source withheld 14 days so they could not be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reverse-engineered. Upgrade, or restart with --offline.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8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LND  ·  cooperative close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6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A channel-close flaw putting an entire channel balance at risk.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822960" y="598932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Two of the three are the shell, not the code: a credential that could be stolen, and an interface that could be reached.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"/>
          <p:cNvPicPr/>
          <p:nvPr/>
        </p:nvPicPr>
        <p:blipFill>
          <a:blip r:embed="rId1"/>
          <a:stretch/>
        </p:blipFill>
        <p:spPr>
          <a:xfrm>
            <a:off x="8458200" y="2438640"/>
            <a:ext cx="3200400" cy="213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3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822960" y="567000"/>
            <a:ext cx="6857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DESIGN PRINCIPLES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822960" y="1115640"/>
            <a:ext cx="713160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36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Built differently, by design.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1"/>
          <p:cNvSpPr/>
          <p:nvPr/>
        </p:nvSpPr>
        <p:spPr>
          <a:xfrm>
            <a:off x="822960" y="1810440"/>
            <a:ext cx="7131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6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Diamond Lightning Node follows three principles: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2"/>
          <p:cNvSpPr/>
          <p:nvPr/>
        </p:nvSpPr>
        <p:spPr>
          <a:xfrm>
            <a:off x="822960" y="5989320"/>
            <a:ext cx="1051452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Security is not another shell. It is a property of every layer.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822960" y="2359080"/>
            <a:ext cx="40320" cy="602640"/>
          </a:xfrm>
          <a:prstGeom prst="rect">
            <a:avLst/>
          </a:prstGeom>
          <a:solidFill>
            <a:srgbClr val="7F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160" tIns="45000" rIns="201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85"/>
          <p:cNvSpPr/>
          <p:nvPr/>
        </p:nvSpPr>
        <p:spPr>
          <a:xfrm>
            <a:off x="987480" y="233172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86"/>
          <p:cNvSpPr/>
          <p:nvPr/>
        </p:nvSpPr>
        <p:spPr>
          <a:xfrm>
            <a:off x="1481400" y="231336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TRANSPARENT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3246120" y="2313360"/>
            <a:ext cx="470844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A8B3BD"/>
                </a:solidFill>
                <a:effectLst/>
                <a:uFillTx/>
                <a:latin typeface="Arial"/>
              </a:rPr>
              <a:t>User-auditable, open under GPLv3, and controlled through an inspectable Nostr interface.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88"/>
          <p:cNvSpPr/>
          <p:nvPr/>
        </p:nvSpPr>
        <p:spPr>
          <a:xfrm>
            <a:off x="987480" y="3054240"/>
            <a:ext cx="6811560" cy="10080"/>
          </a:xfrm>
          <a:prstGeom prst="rect">
            <a:avLst/>
          </a:prstGeom>
          <a:solidFill>
            <a:srgbClr val="384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Rectangle 89"/>
          <p:cNvSpPr/>
          <p:nvPr/>
        </p:nvSpPr>
        <p:spPr>
          <a:xfrm>
            <a:off x="822960" y="3273480"/>
            <a:ext cx="40320" cy="602640"/>
          </a:xfrm>
          <a:prstGeom prst="rect">
            <a:avLst/>
          </a:prstGeom>
          <a:solidFill>
            <a:srgbClr val="7F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160" tIns="45000" rIns="201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7480" y="324612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91"/>
          <p:cNvSpPr/>
          <p:nvPr/>
        </p:nvSpPr>
        <p:spPr>
          <a:xfrm>
            <a:off x="1481400" y="322776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HARD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92"/>
          <p:cNvSpPr/>
          <p:nvPr/>
        </p:nvSpPr>
        <p:spPr>
          <a:xfrm>
            <a:off x="3246120" y="3227760"/>
            <a:ext cx="4708440" cy="39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A8B3BD"/>
                </a:solidFill>
                <a:effectLst/>
                <a:uFillTx/>
                <a:latin typeface="Arial"/>
              </a:rPr>
              <a:t>A layered defensive structure, minimized attack surface, defensive coding - written in rust.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93"/>
          <p:cNvSpPr/>
          <p:nvPr/>
        </p:nvSpPr>
        <p:spPr>
          <a:xfrm>
            <a:off x="987480" y="3968640"/>
            <a:ext cx="6811560" cy="10080"/>
          </a:xfrm>
          <a:prstGeom prst="rect">
            <a:avLst/>
          </a:prstGeom>
          <a:solidFill>
            <a:srgbClr val="384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4200" rIns="90000" bIns="-34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ectangle 94"/>
          <p:cNvSpPr/>
          <p:nvPr/>
        </p:nvSpPr>
        <p:spPr>
          <a:xfrm>
            <a:off x="822960" y="4187880"/>
            <a:ext cx="40320" cy="602640"/>
          </a:xfrm>
          <a:prstGeom prst="rect">
            <a:avLst/>
          </a:prstGeom>
          <a:solidFill>
            <a:srgbClr val="7FD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0160" tIns="45000" rIns="201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95"/>
          <p:cNvSpPr/>
          <p:nvPr/>
        </p:nvSpPr>
        <p:spPr>
          <a:xfrm>
            <a:off x="987480" y="4160520"/>
            <a:ext cx="4107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6"/>
          <p:cNvSpPr/>
          <p:nvPr/>
        </p:nvSpPr>
        <p:spPr>
          <a:xfrm>
            <a:off x="1481400" y="4142160"/>
            <a:ext cx="18280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7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CONTROLLED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97"/>
          <p:cNvSpPr/>
          <p:nvPr/>
        </p:nvSpPr>
        <p:spPr>
          <a:xfrm>
            <a:off x="3246120" y="4142160"/>
            <a:ext cx="4708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A8B3BD"/>
                </a:solidFill>
                <a:effectLst/>
                <a:uFillTx/>
                <a:latin typeface="Arial"/>
              </a:rPr>
              <a:t>A defined process for development, review, verification, release, and deployment.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1"/>
          <a:stretch/>
        </p:blipFill>
        <p:spPr>
          <a:xfrm>
            <a:off x="8915400" y="914400"/>
            <a:ext cx="2513880" cy="251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0" name=""/>
          <p:cNvPicPr/>
          <p:nvPr/>
        </p:nvPicPr>
        <p:blipFill>
          <a:blip r:embed="rId1"/>
          <a:stretch/>
        </p:blipFill>
        <p:spPr>
          <a:xfrm>
            <a:off x="1269720" y="904320"/>
            <a:ext cx="9703080" cy="546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2"/>
          <p:cNvSpPr/>
          <p:nvPr/>
        </p:nvSpPr>
        <p:spPr>
          <a:xfrm>
            <a:off x="822960" y="567000"/>
            <a:ext cx="100573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300" b="0" u="none" strike="noStrike">
                <a:solidFill>
                  <a:srgbClr val="A8B3BD"/>
                </a:solidFill>
                <a:effectLst/>
                <a:uFillTx/>
                <a:latin typeface="Arial"/>
              </a:rPr>
              <a:t> Layered defensive structure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822960" y="567000"/>
            <a:ext cx="10057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ONE TRANSPORT, THREE PROTOCOLS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3"/>
          <p:cNvSpPr/>
          <p:nvPr/>
        </p:nvSpPr>
        <p:spPr>
          <a:xfrm>
            <a:off x="822960" y="1051560"/>
            <a:ext cx="105145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Nostr is the only way in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4"/>
          <p:cNvSpPr/>
          <p:nvPr/>
        </p:nvSpPr>
        <p:spPr>
          <a:xfrm>
            <a:off x="822960" y="2240280"/>
            <a:ext cx="10514520" cy="16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Industry standard though NWC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All packages are individually signed and can be audited, and replayed.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Support for different roles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Good well hardened infrastructure for rust.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Can be deployed redundant and fault tolerant.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822960" y="5989320"/>
            <a:ext cx="10514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No CLI. No local socket. Nothing listens for control — the node reaches out to a relay.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822960" y="567000"/>
            <a:ext cx="1005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SEPARATION OF POWERS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822960" y="1051560"/>
            <a:ext cx="1051452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Three roles, and none of them is trusted twice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4"/>
          <p:cNvSpPr/>
          <p:nvPr/>
        </p:nvSpPr>
        <p:spPr>
          <a:xfrm>
            <a:off x="822960" y="2286000"/>
            <a:ext cx="10514520" cy="21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Owner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Defines the signing policy. Touches nothing day to day. Keeps the seed in a hardware wallet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User uses NWC (Nostr Wallet Control)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Spends through the wallet, within the Owner's permissions and limits.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Controller uses NNC (Nostr Node Control)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800" b="0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Operates the node — channels, peers, fees — under the same policy.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5"/>
          <p:cNvSpPr/>
          <p:nvPr/>
        </p:nvSpPr>
        <p:spPr>
          <a:xfrm>
            <a:off x="822960" y="598932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A role is a key, not an account. Capabilities are granted per key and per method.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4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13"/>
          <p:cNvSpPr/>
          <p:nvPr/>
        </p:nvSpPr>
        <p:spPr>
          <a:xfrm>
            <a:off x="822960" y="567000"/>
            <a:ext cx="10057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SEPARATION OF POWERS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4"/>
          <p:cNvSpPr/>
          <p:nvPr/>
        </p:nvSpPr>
        <p:spPr>
          <a:xfrm>
            <a:off x="822960" y="1051560"/>
            <a:ext cx="10514520" cy="60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Setup procedure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5"/>
          <p:cNvSpPr/>
          <p:nvPr/>
        </p:nvSpPr>
        <p:spPr>
          <a:xfrm>
            <a:off x="822960" y="2286000"/>
            <a:ext cx="10514520" cy="213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OpenSymbol"/>
              <a:buAutoNum type="arabicParenR"/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 Signer boots and sends out an attestation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OpenSymbol"/>
              <a:buAutoNum type="arabicParenR"/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 Owner verifies the attestation and sends in they signing seed from his hardware wallet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OpenSymbol"/>
              <a:buAutoNum type="arabicParenR"/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 Owner creates user, controllers forming the policy using his hardware wallet.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OpenSymbol"/>
              <a:buAutoNum type="arabicParenR"/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 Owner publishes the policy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601"/>
              </a:spcAft>
              <a:buClr>
                <a:srgbClr val="7FD8E8"/>
              </a:buClr>
              <a:buFont typeface="OpenSymbol"/>
              <a:buAutoNum type="arabicParenR"/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 Setup is not complete, users and controllers can now start using the node.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6"/>
          <p:cNvSpPr/>
          <p:nvPr/>
        </p:nvSpPr>
        <p:spPr>
          <a:xfrm>
            <a:off x="822960" y="5989320"/>
            <a:ext cx="10514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A role is a key, not an account. Capabilities are granted per key and per method.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2"/>
          <p:cNvSpPr/>
          <p:nvPr/>
        </p:nvSpPr>
        <p:spPr>
          <a:xfrm>
            <a:off x="822960" y="567000"/>
            <a:ext cx="10057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WHY THE SHAPE MATTERS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822960" y="1051560"/>
            <a:ext cx="1051452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38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Policy lives in the signer,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38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not in the node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4"/>
          <p:cNvSpPr/>
          <p:nvPr/>
        </p:nvSpPr>
        <p:spPr>
          <a:xfrm>
            <a:off x="822960" y="2834640"/>
            <a:ext cx="10514520" cy="258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The keys are not the node's. Every signature is a request the signer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validates against the Owner's policy — and can refuse.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20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A attacker cannot make the signer approve an operation merely by controlling dln-node, he needs a valid user or controller key.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—   The signer can run inside an attested secure enclave.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5"/>
          <p:cNvSpPr/>
          <p:nvPr/>
        </p:nvSpPr>
        <p:spPr>
          <a:xfrm>
            <a:off x="822960" y="5989320"/>
            <a:ext cx="10514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There is no soft centre, because the part worth stealing was never inside the shell.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5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0B0F1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17"/>
          <p:cNvSpPr/>
          <p:nvPr/>
        </p:nvSpPr>
        <p:spPr>
          <a:xfrm>
            <a:off x="822960" y="567000"/>
            <a:ext cx="100573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7FD8E8"/>
                </a:solidFill>
                <a:effectLst/>
                <a:uFillTx/>
                <a:latin typeface="Arial"/>
              </a:rPr>
              <a:t>WHY THE SHAPE MATTERS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18"/>
          <p:cNvSpPr/>
          <p:nvPr/>
        </p:nvSpPr>
        <p:spPr>
          <a:xfrm>
            <a:off x="822960" y="1051560"/>
            <a:ext cx="10514520" cy="57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3800" b="1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Roadmap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9"/>
          <p:cNvSpPr/>
          <p:nvPr/>
        </p:nvSpPr>
        <p:spPr>
          <a:xfrm>
            <a:off x="822960" y="2108160"/>
            <a:ext cx="10514520" cy="31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457200">
              <a:lnSpc>
                <a:spcPct val="100000"/>
              </a:lnSpc>
              <a:spcAft>
                <a:spcPts val="799"/>
              </a:spcAft>
              <a:buClr>
                <a:srgbClr val="E8EDF2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Q3 26: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First working version is up and running.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799"/>
              </a:spcAft>
              <a:buClr>
                <a:srgbClr val="E8EDF2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Q4 26: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Harden software and deploy in production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Make mobile version for wallets combined with keymaster.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Prototype with OpenARK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457200">
              <a:lnSpc>
                <a:spcPct val="100000"/>
              </a:lnSpc>
              <a:spcAft>
                <a:spcPts val="799"/>
              </a:spcAft>
              <a:buClr>
                <a:srgbClr val="E8EDF2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Q1 27: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457200">
              <a:lnSpc>
                <a:spcPct val="10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E8EDF2"/>
                </a:solidFill>
                <a:effectLst/>
                <a:uFillTx/>
                <a:latin typeface="Arial"/>
              </a:rPr>
              <a:t>Implement and deploy OpenARK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0"/>
          <p:cNvSpPr/>
          <p:nvPr/>
        </p:nvSpPr>
        <p:spPr>
          <a:xfrm>
            <a:off x="822960" y="5989320"/>
            <a:ext cx="1051452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8A97A3"/>
                </a:solidFill>
                <a:effectLst/>
                <a:uFillTx/>
                <a:latin typeface="Arial"/>
              </a:rPr>
              <a:t>There is no soft centre, because the part worth stealing was never inside the shell.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2026-09-01T11:37:13Z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