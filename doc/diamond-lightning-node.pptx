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286000"/>
            <a:ext cx="1463040" cy="50800"/>
          </a:xfrm>
          <a:prstGeom prst="rect">
            <a:avLst/>
          </a:prstGeom>
          <a:solidFill>
            <a:srgbClr val="7F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5400" b="1" i="0">
                <a:solidFill>
                  <a:srgbClr val="E8EDF2"/>
                </a:solidFill>
                <a:latin typeface="Arial"/>
              </a:rPr>
              <a:t>Diamond Lightning Node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600" b="0" i="0">
                <a:solidFill>
                  <a:srgbClr val="7FD8E8"/>
                </a:solidFill>
                <a:latin typeface="Arial"/>
              </a:rPr>
              <a:t>A Lightning node that is not trusted —</a:t>
            </a:r>
          </a:p>
          <a:p>
            <a:pPr>
              <a:spcAft>
                <a:spcPts val="0"/>
              </a:spcAft>
            </a:pPr>
            <a:r>
              <a:rPr sz="2600" b="0" i="0">
                <a:solidFill>
                  <a:srgbClr val="7FD8E8"/>
                </a:solidFill>
                <a:latin typeface="Arial"/>
              </a:rPr>
              <a:t>not even by itself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8A97A3"/>
                </a:solidFill>
                <a:latin typeface="Arial"/>
              </a:rPr>
              <a:t>dwdc.club  ·  GPL-3.0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7FD8E8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3800" b="1" i="0">
                <a:solidFill>
                  <a:srgbClr val="E8EDF2"/>
                </a:solidFill>
                <a:latin typeface="Arial"/>
              </a:rPr>
              <a:t>A Lightning node is a hot wallet
with a web server attached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515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REST, gRPC, a CLI, macaroons — inbound surface, always listening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The node holds the very keys it signs with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Whoever controls the node controls the money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8A97A3"/>
                </a:solidFill>
                <a:latin typeface="Arial"/>
              </a:rPr>
              <a:t>Every common mitigation is a patch on that shape, not a change to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7FD8E8"/>
                </a:solidFill>
                <a:latin typeface="Arial"/>
              </a:rPr>
              <a:t>THE ARCHITECTURE</a:t>
            </a:r>
          </a:p>
        </p:txBody>
      </p:sp>
      <p:pic>
        <p:nvPicPr>
          <p:cNvPr id="4" name="Picture 3" descr="desig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29" y="1024128"/>
            <a:ext cx="6992037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8A97A3"/>
                </a:solidFill>
                <a:latin typeface="Arial"/>
              </a:rPr>
              <a:t>Three roles, three protocols, and a signer the node cannot talk past.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7FD8E8"/>
                </a:solidFill>
                <a:latin typeface="Arial"/>
              </a:rPr>
              <a:t>SEPARATION OF POWERS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000" b="1" i="0">
                <a:solidFill>
                  <a:srgbClr val="E8EDF2"/>
                </a:solidFill>
                <a:latin typeface="Arial"/>
              </a:rPr>
              <a:t>Three roles, and none of them is trusted twice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1" i="0">
                <a:solidFill>
                  <a:srgbClr val="7FD8E8"/>
                </a:solidFill>
                <a:latin typeface="Arial"/>
              </a:rPr>
              <a:t>Owner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>Defines the signing policy. Touches nothing day to day.</a:t>
            </a:r>
          </a:p>
          <a:p>
            <a:pPr>
              <a:spcAft>
                <a:spcPts val="600"/>
              </a:spcAft>
            </a:pPr>
            <a:r>
              <a:rPr sz="2000" b="1" i="0">
                <a:solidFill>
                  <a:srgbClr val="7FD8E8"/>
                </a:solidFill>
                <a:latin typeface="Arial"/>
              </a:rPr>
              <a:t>User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>Spends through the wallet, within the Owner's permissions and limits.</a:t>
            </a:r>
          </a:p>
          <a:p>
            <a:pPr>
              <a:spcAft>
                <a:spcPts val="600"/>
              </a:spcAft>
            </a:pPr>
            <a:r>
              <a:rPr sz="2000" b="1" i="0">
                <a:solidFill>
                  <a:srgbClr val="7FD8E8"/>
                </a:solidFill>
                <a:latin typeface="Arial"/>
              </a:rPr>
              <a:t>Controller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>Operates the node — channels, peers, fees — under the same policy.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8A97A3"/>
                </a:solidFill>
                <a:latin typeface="Arial"/>
              </a:rPr>
              <a:t>A role is a key, not an account. Capabilities are granted per key and per method.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7FD8E8"/>
                </a:solidFill>
                <a:latin typeface="Arial"/>
              </a:rPr>
              <a:t>ONE TRANSPORT, THREE PROTOCOLS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000" b="1" i="0">
                <a:solidFill>
                  <a:srgbClr val="E8EDF2"/>
                </a:solidFill>
                <a:latin typeface="Arial"/>
              </a:rPr>
              <a:t>Nostr is the only control plane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10515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1" i="0">
                <a:solidFill>
                  <a:srgbClr val="7FD8E8"/>
                </a:solidFill>
                <a:latin typeface="Arial"/>
              </a:rPr>
              <a:t>NWC   ·   the wallet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>Invoices, payments, offers, on-chain. Extends NIP-47.</a:t>
            </a:r>
          </a:p>
          <a:p>
            <a:pPr>
              <a:spcAft>
                <a:spcPts val="600"/>
              </a:spcAft>
            </a:pPr>
            <a:r>
              <a:rPr sz="2000" b="1" i="0">
                <a:solidFill>
                  <a:srgbClr val="7FD8E8"/>
                </a:solidFill>
                <a:latin typeface="Arial"/>
              </a:rPr>
              <a:t>NCC   ·   the node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>Channels, peers, fees, routing, network queries.</a:t>
            </a:r>
          </a:p>
          <a:p>
            <a:pPr>
              <a:spcAft>
                <a:spcPts val="600"/>
              </a:spcAft>
            </a:pPr>
            <a:r>
              <a:rPr sz="2000" b="1" i="0">
                <a:solidFill>
                  <a:srgbClr val="7FD8E8"/>
                </a:solidFill>
                <a:latin typeface="Arial"/>
              </a:rPr>
              <a:t>NSC   ·   the signer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>Signing requests, and the policy that governs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8A97A3"/>
                </a:solidFill>
                <a:latin typeface="Arial"/>
              </a:rPr>
              <a:t>No CLI. No local socket. Nothing listens for control — the node reaches out to a relay.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7FD8E8"/>
                </a:solidFill>
                <a:latin typeface="Arial"/>
              </a:rPr>
              <a:t>WHY THE SHAPE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3800" b="1" i="0">
                <a:solidFill>
                  <a:srgbClr val="E8EDF2"/>
                </a:solidFill>
                <a:latin typeface="Arial"/>
              </a:rPr>
              <a:t>Policy lives in the signer,
not in the node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10515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The keys are not the node's. Every signature is a request the signer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validates against the Owner's policy — and can refuse.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7FD8E8"/>
                </a:solidFill>
                <a:latin typeface="Arial"/>
              </a:rPr>
              <a:t>A user or controller cannot make the signer approve an operation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7FD8E8"/>
                </a:solidFill>
                <a:latin typeface="Arial"/>
              </a:rPr>
              <a:t>outside that policy merely by controlling dln-node.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The signer can run inside an attested secure enclave.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7FD8E8"/>
                </a:solidFill>
                <a:latin typeface="Arial"/>
              </a:rPr>
              <a:t>WHAT IT UNLOCKS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000" b="1" i="0">
                <a:solidFill>
                  <a:srgbClr val="E8EDF2"/>
                </a:solidFill>
                <a:latin typeface="Arial"/>
              </a:rPr>
              <a:t>diamond-x — swapping BTC against BTK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Two chains, two channels, one payment hash.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Neither side can take their leg without enabling the other.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/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Hold invoices are the primitive that makes it atomic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No custody: the exchange relays two parallel legs, holding nothing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400" b="1" i="0">
                <a:solidFill>
                  <a:srgbClr val="7FD8E8"/>
                </a:solidFill>
                <a:latin typeface="Arial"/>
              </a:rPr>
              <a:t>3.7 seconds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8A97A3"/>
                </a:solidFill>
                <a:latin typeface="Arial"/>
              </a:rPr>
              <a:t>Measured end to end, on regtest — not projected.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7FD8E8"/>
                </a:solidFill>
                <a:latin typeface="Arial"/>
              </a:rPr>
              <a:t>PROVEN WHERE IT IS HARDEST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000" b="1" i="0">
                <a:solidFill>
                  <a:srgbClr val="E8EDF2"/>
                </a:solidFill>
                <a:latin typeface="Arial"/>
              </a:rPr>
              <a:t>Across a consensus fork,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10515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>Bitcoin Knots changes the block header: 80 bytes to 164, and a new proof of work.</a:t>
            </a:r>
          </a:p>
          <a:p>
            <a:pPr>
              <a:spcAft>
                <a:spcPts val="11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/>
            </a:r>
          </a:p>
          <a:p>
            <a:pPr>
              <a:spcAft>
                <a:spcPts val="11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v2 header support through the whole Rust stack</a:t>
            </a:r>
          </a:p>
          <a:p>
            <a:pPr>
              <a:spcAft>
                <a:spcPts val="11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A node follows the chain across activation without losing a channel</a:t>
            </a:r>
          </a:p>
          <a:p>
            <a:pPr>
              <a:spcAft>
                <a:spcPts val="11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A swap with one leg on BTC and one on a BLAKE2b chain</a:t>
            </a:r>
          </a:p>
          <a:p>
            <a:pPr>
              <a:spcAft>
                <a:spcPts val="11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BKIP-0001 — the specification that did not exist, checked against Knots' own vectors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8A97A3"/>
                </a:solidFill>
                <a:latin typeface="Arial"/>
              </a:rPr>
              <a:t>And the negative control: without the support, the node stops dead at the fork.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7FD8E8"/>
                </a:solidFill>
                <a:latin typeface="Arial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3800" b="1" i="0">
                <a:solidFill>
                  <a:srgbClr val="E8EDF2"/>
                </a:solidFill>
                <a:latin typeface="Arial"/>
              </a:rPr>
              <a:t>Fast is demonstrated.
Safe is not yet.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17520"/>
            <a:ext cx="10515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Proven — the happy path, end to end, on both chains, across the fork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Not proven — force closes, HTLC timeouts, on-chain claims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/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Every scenario so far ends with both parties cooperating. The safety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argument rests entirely on what happens when one of them does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8A97A3"/>
                </a:solidFill>
                <a:latin typeface="Arial"/>
              </a:rPr>
              <a:t>That is the next mission, and it is deliberately not claimed yet.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